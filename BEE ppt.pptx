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4.jpg" ContentType="image/jpeg"/>
  <Override PartName="/ppt/media/image5.jpg" ContentType="image/jpeg"/>
  <Override PartName="/ppt/media/image6.jpg" ContentType="image/jpeg"/>
  <Override PartName="/ppt/media/image7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9" r:id="rId5"/>
    <p:sldId id="260" r:id="rId6"/>
    <p:sldId id="261" r:id="rId7"/>
    <p:sldId id="262" r:id="rId8"/>
    <p:sldId id="266" r:id="rId9"/>
    <p:sldId id="263" r:id="rId10"/>
    <p:sldId id="267" r:id="rId11"/>
    <p:sldId id="268" r:id="rId12"/>
    <p:sldId id="264" r:id="rId13"/>
    <p:sldId id="265" r:id="rId14"/>
  </p:sldIdLst>
  <p:sldSz cx="9753600" cy="7315200"/>
  <p:notesSz cx="9753600" cy="7315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47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1023"/>
            <a:ext cx="9753600" cy="894715"/>
          </a:xfrm>
          <a:custGeom>
            <a:avLst/>
            <a:gdLst/>
            <a:ahLst/>
            <a:cxnLst/>
            <a:rect l="l" t="t" r="r" b="b"/>
            <a:pathLst>
              <a:path w="9753600" h="894715">
                <a:moveTo>
                  <a:pt x="9753600" y="0"/>
                </a:moveTo>
                <a:lnTo>
                  <a:pt x="0" y="0"/>
                </a:lnTo>
                <a:lnTo>
                  <a:pt x="0" y="894105"/>
                </a:lnTo>
                <a:lnTo>
                  <a:pt x="9753600" y="894105"/>
                </a:lnTo>
                <a:lnTo>
                  <a:pt x="975360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7152633"/>
            <a:ext cx="9753600" cy="162560"/>
          </a:xfrm>
          <a:custGeom>
            <a:avLst/>
            <a:gdLst/>
            <a:ahLst/>
            <a:cxnLst/>
            <a:rect l="l" t="t" r="r" b="b"/>
            <a:pathLst>
              <a:path w="9753600" h="162559">
                <a:moveTo>
                  <a:pt x="9753600" y="0"/>
                </a:moveTo>
                <a:lnTo>
                  <a:pt x="0" y="0"/>
                </a:lnTo>
                <a:lnTo>
                  <a:pt x="0" y="162566"/>
                </a:lnTo>
                <a:lnTo>
                  <a:pt x="9753600" y="162566"/>
                </a:lnTo>
                <a:lnTo>
                  <a:pt x="9753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90080" y="243852"/>
            <a:ext cx="2194560" cy="677278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6556629" y="-25"/>
            <a:ext cx="3197225" cy="894715"/>
          </a:xfrm>
          <a:custGeom>
            <a:avLst/>
            <a:gdLst/>
            <a:ahLst/>
            <a:cxnLst/>
            <a:rect l="l" t="t" r="r" b="b"/>
            <a:pathLst>
              <a:path w="3197225" h="894715">
                <a:moveTo>
                  <a:pt x="3196971" y="0"/>
                </a:moveTo>
                <a:lnTo>
                  <a:pt x="0" y="0"/>
                </a:lnTo>
                <a:lnTo>
                  <a:pt x="0" y="894105"/>
                </a:lnTo>
                <a:lnTo>
                  <a:pt x="3196971" y="894105"/>
                </a:lnTo>
                <a:lnTo>
                  <a:pt x="3196971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90080" y="243852"/>
            <a:ext cx="2194560" cy="677278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6963029" y="203200"/>
            <a:ext cx="2214880" cy="731520"/>
          </a:xfrm>
          <a:custGeom>
            <a:avLst/>
            <a:gdLst/>
            <a:ahLst/>
            <a:cxnLst/>
            <a:rect l="l" t="t" r="r" b="b"/>
            <a:pathLst>
              <a:path w="2214879" h="731519">
                <a:moveTo>
                  <a:pt x="2214879" y="0"/>
                </a:moveTo>
                <a:lnTo>
                  <a:pt x="0" y="0"/>
                </a:lnTo>
                <a:lnTo>
                  <a:pt x="0" y="731520"/>
                </a:lnTo>
                <a:lnTo>
                  <a:pt x="2214879" y="731520"/>
                </a:lnTo>
                <a:lnTo>
                  <a:pt x="22148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90080" y="243839"/>
            <a:ext cx="2048891" cy="6502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6909"/>
            <a:ext cx="3913377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422857"/>
            <a:ext cx="7940675" cy="3439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16224" y="6803136"/>
            <a:ext cx="3121152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jp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1828800"/>
            <a:ext cx="883919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dirty="0">
                <a:solidFill>
                  <a:srgbClr val="FF0000"/>
                </a:solidFill>
                <a:latin typeface="Arial Black"/>
                <a:cs typeface="Arial Black"/>
              </a:rPr>
              <a:t>LIBRARY MANAGEMENT SYSTEM</a:t>
            </a:r>
            <a:endParaRPr sz="36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77186" y="3006851"/>
            <a:ext cx="5791200" cy="1953740"/>
          </a:xfrm>
          <a:prstGeom prst="rect">
            <a:avLst/>
          </a:prstGeom>
          <a:solidFill>
            <a:srgbClr val="F9C090"/>
          </a:solidFill>
        </p:spPr>
        <p:txBody>
          <a:bodyPr vert="horz" wrap="square" lIns="0" tIns="2984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35"/>
              </a:spcBef>
              <a:tabLst>
                <a:tab pos="1934210" algn="l"/>
              </a:tabLst>
            </a:pPr>
            <a:r>
              <a:rPr sz="2000" spc="-35" dirty="0">
                <a:latin typeface="Calibri"/>
                <a:cs typeface="Calibri"/>
              </a:rPr>
              <a:t>Team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Members: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lang="en-US" sz="2000" dirty="0">
                <a:latin typeface="Calibri"/>
                <a:cs typeface="Calibri"/>
              </a:rPr>
              <a:t>Komal(2310992042)</a:t>
            </a:r>
          </a:p>
          <a:p>
            <a:pPr marL="91440">
              <a:lnSpc>
                <a:spcPct val="100000"/>
              </a:lnSpc>
              <a:spcBef>
                <a:spcPts val="235"/>
              </a:spcBef>
              <a:tabLst>
                <a:tab pos="1934210" algn="l"/>
              </a:tabLst>
            </a:pPr>
            <a:r>
              <a:rPr lang="en-US" sz="2000" spc="-10" dirty="0">
                <a:latin typeface="Calibri"/>
                <a:cs typeface="Calibri"/>
              </a:rPr>
              <a:t>                                 </a:t>
            </a:r>
            <a:r>
              <a:rPr sz="2000" spc="-10" dirty="0">
                <a:latin typeface="Calibri"/>
                <a:cs typeface="Calibri"/>
              </a:rPr>
              <a:t>Madhu(2310992056)</a:t>
            </a:r>
            <a:endParaRPr lang="en-US" sz="2000" spc="-1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235"/>
              </a:spcBef>
              <a:tabLst>
                <a:tab pos="1934210" algn="l"/>
              </a:tabLst>
            </a:pPr>
            <a:r>
              <a:rPr lang="en-IN" sz="2000" spc="-10" dirty="0">
                <a:latin typeface="Calibri"/>
                <a:cs typeface="Calibri"/>
              </a:rPr>
              <a:t>                                 Mehak(2310992067)</a:t>
            </a:r>
            <a:endParaRPr sz="2000" dirty="0">
              <a:latin typeface="Calibri"/>
              <a:cs typeface="Calibri"/>
            </a:endParaRPr>
          </a:p>
          <a:p>
            <a:pPr marL="494030" algn="ctr">
              <a:lnSpc>
                <a:spcPct val="100000"/>
              </a:lnSpc>
              <a:spcBef>
                <a:spcPts val="60"/>
              </a:spcBef>
            </a:pPr>
            <a:r>
              <a:rPr lang="en-US" sz="2000" dirty="0">
                <a:latin typeface="Times New Roman"/>
                <a:cs typeface="Times New Roman"/>
              </a:rPr>
              <a:t>          </a:t>
            </a:r>
            <a:r>
              <a:rPr sz="2000" dirty="0">
                <a:latin typeface="Times New Roman"/>
                <a:cs typeface="Times New Roman"/>
              </a:rPr>
              <a:t>Diksha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Vadehra(2310992592)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Faculty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Coordinator: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Shubham Chaudhary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8077" y="5625846"/>
            <a:ext cx="666305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2295" marR="5080" indent="-184023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Chitkara</a:t>
            </a:r>
            <a:r>
              <a:rPr sz="2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University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Institute</a:t>
            </a:r>
            <a:r>
              <a:rPr sz="20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Engineering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0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Technology,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Chitkara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University,</a:t>
            </a:r>
            <a:r>
              <a:rPr sz="20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Punjab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25"/>
            <a:ext cx="9753879" cy="894715"/>
          </a:xfrm>
          <a:custGeom>
            <a:avLst/>
            <a:gdLst/>
            <a:ahLst/>
            <a:cxnLst/>
            <a:rect l="l" t="t" r="r" b="b"/>
            <a:pathLst>
              <a:path w="9624695" h="894715">
                <a:moveTo>
                  <a:pt x="0" y="25"/>
                </a:moveTo>
                <a:lnTo>
                  <a:pt x="0" y="894105"/>
                </a:lnTo>
                <a:lnTo>
                  <a:pt x="9624415" y="894105"/>
                </a:lnTo>
                <a:lnTo>
                  <a:pt x="9624415" y="0"/>
                </a:lnTo>
                <a:lnTo>
                  <a:pt x="0" y="25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7152633"/>
            <a:ext cx="9753600" cy="162560"/>
          </a:xfrm>
          <a:custGeom>
            <a:avLst/>
            <a:gdLst/>
            <a:ahLst/>
            <a:cxnLst/>
            <a:rect l="l" t="t" r="r" b="b"/>
            <a:pathLst>
              <a:path w="9753600" h="162559">
                <a:moveTo>
                  <a:pt x="9753600" y="0"/>
                </a:moveTo>
                <a:lnTo>
                  <a:pt x="0" y="0"/>
                </a:lnTo>
                <a:lnTo>
                  <a:pt x="0" y="162566"/>
                </a:lnTo>
                <a:lnTo>
                  <a:pt x="9753600" y="162566"/>
                </a:lnTo>
                <a:lnTo>
                  <a:pt x="9753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556629" y="-25"/>
            <a:ext cx="3197225" cy="935355"/>
            <a:chOff x="6556629" y="-25"/>
            <a:chExt cx="3197225" cy="9353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0080" y="243852"/>
              <a:ext cx="2194560" cy="67727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556629" y="-25"/>
              <a:ext cx="3197225" cy="894715"/>
            </a:xfrm>
            <a:custGeom>
              <a:avLst/>
              <a:gdLst/>
              <a:ahLst/>
              <a:cxnLst/>
              <a:rect l="l" t="t" r="r" b="b"/>
              <a:pathLst>
                <a:path w="3197225" h="894715">
                  <a:moveTo>
                    <a:pt x="3196971" y="0"/>
                  </a:moveTo>
                  <a:lnTo>
                    <a:pt x="0" y="0"/>
                  </a:lnTo>
                  <a:lnTo>
                    <a:pt x="0" y="894105"/>
                  </a:lnTo>
                  <a:lnTo>
                    <a:pt x="3196971" y="894105"/>
                  </a:lnTo>
                  <a:lnTo>
                    <a:pt x="3196971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90080" y="243852"/>
              <a:ext cx="2194560" cy="67727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963029" y="203200"/>
              <a:ext cx="2214880" cy="731520"/>
            </a:xfrm>
            <a:custGeom>
              <a:avLst/>
              <a:gdLst/>
              <a:ahLst/>
              <a:cxnLst/>
              <a:rect l="l" t="t" r="r" b="b"/>
              <a:pathLst>
                <a:path w="2214879" h="731519">
                  <a:moveTo>
                    <a:pt x="2214879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214879" y="731520"/>
                  </a:lnTo>
                  <a:lnTo>
                    <a:pt x="22148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90080" y="243839"/>
              <a:ext cx="2048891" cy="65024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173" rIns="0" bIns="0" rtlCol="0">
            <a:spAutoFit/>
          </a:bodyPr>
          <a:lstStyle/>
          <a:p>
            <a:pPr marL="640080">
              <a:lnSpc>
                <a:spcPct val="100000"/>
              </a:lnSpc>
              <a:spcBef>
                <a:spcPts val="105"/>
              </a:spcBef>
            </a:pPr>
            <a:r>
              <a:rPr sz="3400" b="1" spc="-25" dirty="0">
                <a:latin typeface="Times New Roman"/>
                <a:cs typeface="Times New Roman"/>
              </a:rPr>
              <a:t>Table</a:t>
            </a:r>
            <a:r>
              <a:rPr sz="3400" b="1" spc="-7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of</a:t>
            </a:r>
            <a:r>
              <a:rPr sz="3400" b="1" spc="-90" dirty="0">
                <a:latin typeface="Times New Roman"/>
                <a:cs typeface="Times New Roman"/>
              </a:rPr>
              <a:t> </a:t>
            </a:r>
            <a:r>
              <a:rPr sz="3400" b="1" spc="-10" dirty="0">
                <a:latin typeface="Times New Roman"/>
                <a:cs typeface="Times New Roman"/>
              </a:rPr>
              <a:t>Contents</a:t>
            </a:r>
            <a:endParaRPr sz="34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4260" y="985774"/>
            <a:ext cx="5736540" cy="32669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07010" indent="-194310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207010" algn="l"/>
              </a:tabLst>
            </a:pPr>
            <a:r>
              <a:rPr sz="2950" spc="-10" dirty="0">
                <a:latin typeface="Times New Roman"/>
                <a:cs typeface="Times New Roman"/>
              </a:rPr>
              <a:t>Introduction</a:t>
            </a:r>
            <a:endParaRPr sz="2950" dirty="0">
              <a:latin typeface="Times New Roman"/>
              <a:cs typeface="Times New Roman"/>
            </a:endParaRPr>
          </a:p>
          <a:p>
            <a:pPr marL="207010" indent="-19431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07010" algn="l"/>
              </a:tabLst>
            </a:pPr>
            <a:r>
              <a:rPr sz="2950" dirty="0">
                <a:latin typeface="Times New Roman"/>
                <a:cs typeface="Times New Roman"/>
              </a:rPr>
              <a:t>Problem</a:t>
            </a:r>
            <a:r>
              <a:rPr sz="2950" spc="90" dirty="0">
                <a:latin typeface="Times New Roman"/>
                <a:cs typeface="Times New Roman"/>
              </a:rPr>
              <a:t> </a:t>
            </a:r>
            <a:r>
              <a:rPr sz="2950" spc="-10" dirty="0">
                <a:latin typeface="Times New Roman"/>
                <a:cs typeface="Times New Roman"/>
              </a:rPr>
              <a:t>Statement</a:t>
            </a:r>
            <a:endParaRPr sz="2950" dirty="0">
              <a:latin typeface="Times New Roman"/>
              <a:cs typeface="Times New Roman"/>
            </a:endParaRPr>
          </a:p>
          <a:p>
            <a:pPr marL="207010" indent="-19431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07010" algn="l"/>
              </a:tabLst>
            </a:pPr>
            <a:r>
              <a:rPr sz="2950" dirty="0">
                <a:latin typeface="Times New Roman"/>
                <a:cs typeface="Times New Roman"/>
              </a:rPr>
              <a:t>Technical</a:t>
            </a:r>
            <a:r>
              <a:rPr sz="2950" spc="-130" dirty="0">
                <a:latin typeface="Times New Roman"/>
                <a:cs typeface="Times New Roman"/>
              </a:rPr>
              <a:t> </a:t>
            </a:r>
            <a:r>
              <a:rPr sz="2950" spc="-10" dirty="0">
                <a:latin typeface="Times New Roman"/>
                <a:cs typeface="Times New Roman"/>
              </a:rPr>
              <a:t>Details</a:t>
            </a:r>
            <a:endParaRPr lang="en-US" sz="2950" spc="-10" dirty="0">
              <a:latin typeface="Times New Roman"/>
              <a:cs typeface="Times New Roman"/>
            </a:endParaRPr>
          </a:p>
          <a:p>
            <a:pPr marL="207010" indent="-19431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07010" algn="l"/>
              </a:tabLst>
            </a:pPr>
            <a:r>
              <a:rPr lang="en-IN" sz="2950" spc="-10" dirty="0">
                <a:latin typeface="Times New Roman"/>
                <a:cs typeface="Times New Roman"/>
              </a:rPr>
              <a:t>System Architecture Design</a:t>
            </a:r>
            <a:endParaRPr sz="2950" dirty="0">
              <a:latin typeface="Times New Roman"/>
              <a:cs typeface="Times New Roman"/>
            </a:endParaRPr>
          </a:p>
          <a:p>
            <a:pPr marL="206375" indent="-19367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206375" algn="l"/>
              </a:tabLst>
            </a:pPr>
            <a:r>
              <a:rPr sz="3000" dirty="0">
                <a:latin typeface="Times New Roman"/>
                <a:cs typeface="Times New Roman"/>
              </a:rPr>
              <a:t>Key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Features</a:t>
            </a:r>
            <a:endParaRPr sz="3000" dirty="0">
              <a:latin typeface="Times New Roman"/>
              <a:cs typeface="Times New Roman"/>
            </a:endParaRPr>
          </a:p>
          <a:p>
            <a:pPr marL="207010" indent="-194310">
              <a:lnSpc>
                <a:spcPct val="100000"/>
              </a:lnSpc>
              <a:spcBef>
                <a:spcPts val="55"/>
              </a:spcBef>
              <a:buFont typeface="Arial MT"/>
              <a:buChar char="•"/>
              <a:tabLst>
                <a:tab pos="207010" algn="l"/>
              </a:tabLst>
            </a:pPr>
            <a:r>
              <a:rPr sz="2950" dirty="0">
                <a:latin typeface="Times New Roman"/>
                <a:cs typeface="Times New Roman"/>
              </a:rPr>
              <a:t>Project</a:t>
            </a:r>
            <a:r>
              <a:rPr sz="2950" spc="70" dirty="0">
                <a:latin typeface="Times New Roman"/>
                <a:cs typeface="Times New Roman"/>
              </a:rPr>
              <a:t> </a:t>
            </a:r>
            <a:r>
              <a:rPr sz="2950" spc="-10" dirty="0">
                <a:latin typeface="Times New Roman"/>
                <a:cs typeface="Times New Roman"/>
              </a:rPr>
              <a:t>Highlights</a:t>
            </a:r>
            <a:endParaRPr sz="2950" dirty="0">
              <a:latin typeface="Times New Roman"/>
              <a:cs typeface="Times New Roman"/>
            </a:endParaRPr>
          </a:p>
          <a:p>
            <a:pPr marL="207010" indent="-19431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07010" algn="l"/>
              </a:tabLst>
            </a:pPr>
            <a:r>
              <a:rPr sz="2950" spc="-10" dirty="0">
                <a:latin typeface="Times New Roman"/>
                <a:cs typeface="Times New Roman"/>
              </a:rPr>
              <a:t>Conclusion</a:t>
            </a:r>
            <a:endParaRPr sz="29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173" rIns="0" bIns="0" rtlCol="0">
            <a:spAutoFit/>
          </a:bodyPr>
          <a:lstStyle/>
          <a:p>
            <a:pPr marL="511175">
              <a:lnSpc>
                <a:spcPct val="100000"/>
              </a:lnSpc>
              <a:spcBef>
                <a:spcPts val="105"/>
              </a:spcBef>
            </a:pPr>
            <a:r>
              <a:rPr sz="3400" b="1" spc="-10" dirty="0">
                <a:latin typeface="Times New Roman"/>
                <a:cs typeface="Times New Roman"/>
              </a:rPr>
              <a:t>Introduction</a:t>
            </a:r>
            <a:endParaRPr sz="3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5731" y="2519933"/>
            <a:ext cx="8964930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870200" algn="l"/>
                <a:tab pos="3729990" algn="l"/>
                <a:tab pos="6517640" algn="l"/>
                <a:tab pos="8122920" algn="l"/>
              </a:tabLst>
            </a:pPr>
            <a:r>
              <a:rPr sz="3400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7D5469E-E021-35D5-F04E-AFD2B4282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938" y="1052824"/>
            <a:ext cx="8964929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Library Management System is a full-stack web application designed to digitize library operations.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eliminates manual record-keeping and paper-based processes.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centralized platform to manage books, students, and library activities.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modern web technologies to ensure efficiency and scalability.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both public access and secured dashboards.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educational institutions and academic libraries.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9AECE-5066-7000-FD59-8BD08298E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304799"/>
            <a:ext cx="3913377" cy="553998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692B75-AFE5-9D92-E981-447788E8167F}"/>
              </a:ext>
            </a:extLst>
          </p:cNvPr>
          <p:cNvSpPr txBox="1"/>
          <p:nvPr/>
        </p:nvSpPr>
        <p:spPr>
          <a:xfrm>
            <a:off x="609600" y="1395443"/>
            <a:ext cx="86106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libraries rely on manual registers and spreadsheets.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systems are prone to data loss and human errors.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a large number of books and students is time-consuming.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proper access control causes data inconsistency.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Bulk student registration is difficult with manual methods.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and maintenance become complex without standardization.</a:t>
            </a:r>
          </a:p>
          <a:p>
            <a:pPr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681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173" rIns="0" bIns="0" rtlCol="0">
            <a:spAutoFit/>
          </a:bodyPr>
          <a:lstStyle/>
          <a:p>
            <a:pPr marL="511175">
              <a:lnSpc>
                <a:spcPct val="100000"/>
              </a:lnSpc>
              <a:spcBef>
                <a:spcPts val="105"/>
              </a:spcBef>
            </a:pPr>
            <a:r>
              <a:rPr lang="en-IN" sz="3400" b="1" dirty="0">
                <a:latin typeface="Times New Roman"/>
                <a:cs typeface="Times New Roman"/>
              </a:rPr>
              <a:t>Technical Details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1ED4007-CB34-0A86-8993-13770EE34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62819"/>
            <a:ext cx="8458200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React.js for UI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development,HTML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    CSS, JavaScript for structure and styling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Technologies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Node.js for server-side execution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Express.js for API development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MongoDB for flexible and scalable data storage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JWT for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authentication,bcrypt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password encryption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 for containerized deployment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-6909"/>
            <a:ext cx="6017261" cy="716785"/>
          </a:xfrm>
          <a:prstGeom prst="rect">
            <a:avLst/>
          </a:prstGeom>
        </p:spPr>
        <p:txBody>
          <a:bodyPr vert="horz" wrap="square" lIns="0" tIns="222173" rIns="0" bIns="0" rtlCol="0">
            <a:spAutoFit/>
          </a:bodyPr>
          <a:lstStyle/>
          <a:p>
            <a:pPr marL="511175">
              <a:lnSpc>
                <a:spcPct val="100000"/>
              </a:lnSpc>
              <a:spcBef>
                <a:spcPts val="105"/>
              </a:spcBef>
            </a:pPr>
            <a:r>
              <a:rPr lang="en-IN" sz="3200" b="1" dirty="0">
                <a:latin typeface="Times New Roman"/>
                <a:cs typeface="Times New Roman"/>
              </a:rPr>
              <a:t>System Architecture Design</a:t>
            </a:r>
            <a:endParaRPr sz="3200" b="1" dirty="0">
              <a:latin typeface="Times New Roman"/>
              <a:cs typeface="Times New Roman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7E4DAAF-FF9B-4095-F04B-BFF55A05D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905695"/>
            <a:ext cx="7696200" cy="611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three-tier architecture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interaction and UI rendering.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Processes business logic and API requests.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Layer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Manages data storage and retrieval.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RESTful APIs enable communication between frontend and backend.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Middleware ensures secure access to protected routes.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 ensures consistency across environments.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173" rIns="0" bIns="0" rtlCol="0">
            <a:spAutoFit/>
          </a:bodyPr>
          <a:lstStyle/>
          <a:p>
            <a:pPr marL="511175">
              <a:lnSpc>
                <a:spcPct val="100000"/>
              </a:lnSpc>
              <a:spcBef>
                <a:spcPts val="105"/>
              </a:spcBef>
            </a:pPr>
            <a:r>
              <a:rPr lang="en-IN" sz="3400" b="1" dirty="0">
                <a:latin typeface="Times New Roman"/>
                <a:cs typeface="Times New Roman"/>
              </a:rPr>
              <a:t>Key Features</a:t>
            </a:r>
            <a:endParaRPr sz="3400" b="1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66D9C0-A6BF-6EB7-384A-E07D9324125A}"/>
              </a:ext>
            </a:extLst>
          </p:cNvPr>
          <p:cNvSpPr txBox="1"/>
          <p:nvPr/>
        </p:nvSpPr>
        <p:spPr>
          <a:xfrm>
            <a:off x="228600" y="1066800"/>
            <a:ext cx="8686800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pages to view available books.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for Admin and Students.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 functionalities: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Add, edit, and delete books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and delete student members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Bulk student addition using Excel upload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dashboard functionalities: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available books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personal dashboard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role-based access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5DB7B-FB79-9E49-A92D-C14247020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228600"/>
            <a:ext cx="3913377" cy="553998"/>
          </a:xfrm>
        </p:spPr>
        <p:txBody>
          <a:bodyPr/>
          <a:lstStyle/>
          <a:p>
            <a:r>
              <a:rPr lang="en-IN" sz="3600" b="1" dirty="0">
                <a:latin typeface="Times New Roman"/>
                <a:cs typeface="Times New Roman"/>
              </a:rPr>
              <a:t>Project</a:t>
            </a:r>
            <a:r>
              <a:rPr lang="en-IN" sz="3600" b="1" spc="15" dirty="0">
                <a:latin typeface="Times New Roman"/>
                <a:cs typeface="Times New Roman"/>
              </a:rPr>
              <a:t> </a:t>
            </a:r>
            <a:r>
              <a:rPr lang="en-IN" sz="3600" b="1" spc="-10" dirty="0">
                <a:latin typeface="Times New Roman"/>
                <a:cs typeface="Times New Roman"/>
              </a:rPr>
              <a:t>Highlights</a:t>
            </a:r>
            <a:endParaRPr lang="en-IN" sz="35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5971D52-ECD2-356E-74C1-6D45D26E4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066800"/>
            <a:ext cx="8850724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188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173" rIns="0" bIns="0" rtlCol="0">
            <a:spAutoFit/>
          </a:bodyPr>
          <a:lstStyle/>
          <a:p>
            <a:pPr marL="511175">
              <a:lnSpc>
                <a:spcPct val="100000"/>
              </a:lnSpc>
              <a:spcBef>
                <a:spcPts val="105"/>
              </a:spcBef>
            </a:pPr>
            <a:r>
              <a:rPr sz="3400" b="1" dirty="0">
                <a:latin typeface="Times New Roman"/>
                <a:cs typeface="Times New Roman"/>
              </a:rPr>
              <a:t>Project</a:t>
            </a:r>
            <a:r>
              <a:rPr sz="3400" b="1" spc="15" dirty="0">
                <a:latin typeface="Times New Roman"/>
                <a:cs typeface="Times New Roman"/>
              </a:rPr>
              <a:t> </a:t>
            </a:r>
            <a:r>
              <a:rPr sz="3400" b="1" spc="-10" dirty="0">
                <a:latin typeface="Times New Roman"/>
                <a:cs typeface="Times New Roman"/>
              </a:rPr>
              <a:t>Highlights</a:t>
            </a:r>
            <a:endParaRPr sz="3400" b="1" dirty="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701516-90DA-BA80-C689-73805ADF3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01" y="1219200"/>
            <a:ext cx="9335197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55F83-A7F7-EDAC-DE05-E136C5167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228600"/>
            <a:ext cx="3913377" cy="553998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Highlights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73A5F2-CE16-4CA4-E837-DA8C6BB0A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32" y="1295400"/>
            <a:ext cx="9124335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890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978D1-5D26-1EB1-D11C-E00B60533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304799"/>
            <a:ext cx="3913377" cy="553998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Highlights</a:t>
            </a: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937F68-7F12-905B-D0CA-9F80917B1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60"/>
          <a:stretch>
            <a:fillRect/>
          </a:stretch>
        </p:blipFill>
        <p:spPr>
          <a:xfrm>
            <a:off x="363470" y="1600200"/>
            <a:ext cx="9026659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703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52633"/>
            <a:ext cx="9753600" cy="162560"/>
          </a:xfrm>
          <a:custGeom>
            <a:avLst/>
            <a:gdLst/>
            <a:ahLst/>
            <a:cxnLst/>
            <a:rect l="l" t="t" r="r" b="b"/>
            <a:pathLst>
              <a:path w="9753600" h="162559">
                <a:moveTo>
                  <a:pt x="9753600" y="0"/>
                </a:moveTo>
                <a:lnTo>
                  <a:pt x="0" y="0"/>
                </a:lnTo>
                <a:lnTo>
                  <a:pt x="0" y="162566"/>
                </a:lnTo>
                <a:lnTo>
                  <a:pt x="9753600" y="162566"/>
                </a:lnTo>
                <a:lnTo>
                  <a:pt x="9753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-25"/>
            <a:ext cx="9753600" cy="762635"/>
          </a:xfrm>
          <a:custGeom>
            <a:avLst/>
            <a:gdLst/>
            <a:ahLst/>
            <a:cxnLst/>
            <a:rect l="l" t="t" r="r" b="b"/>
            <a:pathLst>
              <a:path w="9753600" h="762635">
                <a:moveTo>
                  <a:pt x="9753600" y="0"/>
                </a:moveTo>
                <a:lnTo>
                  <a:pt x="0" y="0"/>
                </a:lnTo>
                <a:lnTo>
                  <a:pt x="0" y="762025"/>
                </a:lnTo>
                <a:lnTo>
                  <a:pt x="9753600" y="762025"/>
                </a:lnTo>
                <a:lnTo>
                  <a:pt x="975360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739" y="-6909"/>
            <a:ext cx="391337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90080" y="76200"/>
            <a:ext cx="2048891" cy="6858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0337241D-B827-ABD7-2815-6E03076CB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12727"/>
            <a:ext cx="8077200" cy="5565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Library Management System improves efficiency and accuracy.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workload and operational errors.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and controlled access to users.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strong full-stack development skills.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Easily extendable with advanced features such as: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 issue/return tracking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Reports and analytics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5531" y="1419898"/>
            <a:ext cx="9192895" cy="5523230"/>
            <a:chOff x="165531" y="1419898"/>
            <a:chExt cx="9192895" cy="55232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3090" y="2082131"/>
              <a:ext cx="6027293" cy="381308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15490" y="1572298"/>
              <a:ext cx="6027293" cy="447535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531" y="1419898"/>
              <a:ext cx="9192387" cy="5522976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0" y="-25"/>
            <a:ext cx="9753600" cy="894715"/>
            <a:chOff x="0" y="-25"/>
            <a:chExt cx="9753600" cy="894715"/>
          </a:xfrm>
        </p:grpSpPr>
        <p:sp>
          <p:nvSpPr>
            <p:cNvPr id="7" name="object 7"/>
            <p:cNvSpPr/>
            <p:nvPr/>
          </p:nvSpPr>
          <p:spPr>
            <a:xfrm>
              <a:off x="0" y="-25"/>
              <a:ext cx="9753600" cy="894715"/>
            </a:xfrm>
            <a:custGeom>
              <a:avLst/>
              <a:gdLst/>
              <a:ahLst/>
              <a:cxnLst/>
              <a:rect l="l" t="t" r="r" b="b"/>
              <a:pathLst>
                <a:path w="9753600" h="894715">
                  <a:moveTo>
                    <a:pt x="9753600" y="0"/>
                  </a:moveTo>
                  <a:lnTo>
                    <a:pt x="0" y="0"/>
                  </a:lnTo>
                  <a:lnTo>
                    <a:pt x="0" y="894105"/>
                  </a:lnTo>
                  <a:lnTo>
                    <a:pt x="9753600" y="894105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73189" y="121920"/>
              <a:ext cx="2048891" cy="6502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Words>417</Words>
  <Application>Microsoft Office PowerPoint</Application>
  <PresentationFormat>Custom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Arial MT</vt:lpstr>
      <vt:lpstr>Calibri</vt:lpstr>
      <vt:lpstr>Times New Roman</vt:lpstr>
      <vt:lpstr>Office Theme</vt:lpstr>
      <vt:lpstr>LIBRARY MANAGEMENT SYSTEM</vt:lpstr>
      <vt:lpstr>Table of Contents</vt:lpstr>
      <vt:lpstr>Introduction</vt:lpstr>
      <vt:lpstr>Problem Statement</vt:lpstr>
      <vt:lpstr>Technical Details</vt:lpstr>
      <vt:lpstr>System Architecture Design</vt:lpstr>
      <vt:lpstr>Key Features</vt:lpstr>
      <vt:lpstr>Project Highlights</vt:lpstr>
      <vt:lpstr>Project Highlights</vt:lpstr>
      <vt:lpstr>Project Highlights</vt:lpstr>
      <vt:lpstr>Project Highlights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BackEnd PPT</dc:title>
  <dc:creator>Madhu</dc:creator>
  <cp:lastModifiedBy>HP LAPTOP</cp:lastModifiedBy>
  <cp:revision>6</cp:revision>
  <dcterms:created xsi:type="dcterms:W3CDTF">2025-03-06T15:03:45Z</dcterms:created>
  <dcterms:modified xsi:type="dcterms:W3CDTF">2025-12-23T05:27:31Z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2024-12-28T00:00:00Z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2025-03-06T00:00:00Z</vt:filetime>
  </property>
  <property fmtid="{D5CDD505-2E9C-101B-9397-08002B2CF9AE}" pid="5" name="Producer">
    <vt:lpwstr>Microsoft® PowerPoint® 2021</vt:lpwstr>
  </property>
</Properties>
</file>